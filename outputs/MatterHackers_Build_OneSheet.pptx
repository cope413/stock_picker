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2468880"/>
          </a:xfrm>
          <a:prstGeom prst="rect">
            <a:avLst/>
          </a:prstGeom>
          <a:solidFill>
            <a:srgbClr val="009BFF"/>
          </a:solidFill>
          <a:ln/>
        </p:spPr>
      </p:sp>
      <p:sp>
        <p:nvSpPr>
          <p:cNvPr id="3" name="Shape 1"/>
          <p:cNvSpPr/>
          <p:nvPr/>
        </p:nvSpPr>
        <p:spPr>
          <a:xfrm>
            <a:off x="5212080" y="0"/>
            <a:ext cx="45720" cy="2468880"/>
          </a:xfrm>
          <a:prstGeom prst="rect">
            <a:avLst/>
          </a:prstGeom>
          <a:solidFill>
            <a:srgbClr val="FFFFFF">
              <a:alpha val="12000"/>
            </a:srgbClr>
          </a:solidFill>
          <a:ln/>
        </p:spPr>
      </p:sp>
      <p:sp>
        <p:nvSpPr>
          <p:cNvPr id="4" name="Shape 2"/>
          <p:cNvSpPr/>
          <p:nvPr/>
        </p:nvSpPr>
        <p:spPr>
          <a:xfrm>
            <a:off x="5669280" y="0"/>
            <a:ext cx="45720" cy="2468880"/>
          </a:xfrm>
          <a:prstGeom prst="rect">
            <a:avLst/>
          </a:prstGeom>
          <a:solidFill>
            <a:srgbClr val="FFFFFF">
              <a:alpha val="12000"/>
            </a:srgbClr>
          </a:solidFill>
          <a:ln/>
        </p:spPr>
      </p:sp>
      <p:sp>
        <p:nvSpPr>
          <p:cNvPr id="5" name="Shape 3"/>
          <p:cNvSpPr/>
          <p:nvPr/>
        </p:nvSpPr>
        <p:spPr>
          <a:xfrm>
            <a:off x="6126480" y="0"/>
            <a:ext cx="45720" cy="2468880"/>
          </a:xfrm>
          <a:prstGeom prst="rect">
            <a:avLst/>
          </a:prstGeom>
          <a:solidFill>
            <a:srgbClr val="FFFFFF">
              <a:alpha val="12000"/>
            </a:srgbClr>
          </a:solidFill>
          <a:ln/>
        </p:spPr>
      </p:sp>
      <p:sp>
        <p:nvSpPr>
          <p:cNvPr id="6" name="Shape 4"/>
          <p:cNvSpPr/>
          <p:nvPr/>
        </p:nvSpPr>
        <p:spPr>
          <a:xfrm>
            <a:off x="6583680" y="0"/>
            <a:ext cx="45720" cy="2468880"/>
          </a:xfrm>
          <a:prstGeom prst="rect">
            <a:avLst/>
          </a:prstGeom>
          <a:solidFill>
            <a:srgbClr val="FFFFFF">
              <a:alpha val="12000"/>
            </a:srgbClr>
          </a:solidFill>
          <a:ln/>
        </p:spPr>
      </p:sp>
      <p:sp>
        <p:nvSpPr>
          <p:cNvPr id="7" name="Shape 5"/>
          <p:cNvSpPr/>
          <p:nvPr/>
        </p:nvSpPr>
        <p:spPr>
          <a:xfrm>
            <a:off x="7040880" y="0"/>
            <a:ext cx="45720" cy="2468880"/>
          </a:xfrm>
          <a:prstGeom prst="rect">
            <a:avLst/>
          </a:prstGeom>
          <a:solidFill>
            <a:srgbClr val="FFFFFF">
              <a:alpha val="12000"/>
            </a:srgbClr>
          </a:solidFill>
          <a:ln/>
        </p:spPr>
      </p:sp>
      <p:sp>
        <p:nvSpPr>
          <p:cNvPr id="8" name="Shape 6"/>
          <p:cNvSpPr/>
          <p:nvPr/>
        </p:nvSpPr>
        <p:spPr>
          <a:xfrm>
            <a:off x="7498080" y="0"/>
            <a:ext cx="45720" cy="2468880"/>
          </a:xfrm>
          <a:prstGeom prst="rect">
            <a:avLst/>
          </a:prstGeom>
          <a:solidFill>
            <a:srgbClr val="FFFFFF">
              <a:alpha val="12000"/>
            </a:srgbClr>
          </a:solidFill>
          <a:ln/>
        </p:spPr>
      </p:sp>
      <p:sp>
        <p:nvSpPr>
          <p:cNvPr id="9" name="Text 7"/>
          <p:cNvSpPr/>
          <p:nvPr/>
        </p:nvSpPr>
        <p:spPr>
          <a:xfrm>
            <a:off x="502920" y="457200"/>
            <a:ext cx="4572000" cy="274320"/>
          </a:xfrm>
          <a:prstGeom prst="rect">
            <a:avLst/>
          </a:prstGeom>
          <a:noFill/>
          <a:ln/>
        </p:spPr>
        <p:txBody>
          <a:bodyPr wrap="square" rtlCol="0" anchor="ctr"/>
          <a:lstStyle/>
          <a:p>
            <a:pPr indent="0" marL="0">
              <a:buNone/>
            </a:pPr>
            <a:r>
              <a:rPr lang="en-US" sz="1300" b="1" spc="300" kern="0" dirty="0">
                <a:solidFill>
                  <a:srgbClr val="FFFFFF"/>
                </a:solidFill>
                <a:latin typeface="Arial" pitchFamily="34" charset="0"/>
                <a:ea typeface="Arial" pitchFamily="34" charset="-122"/>
                <a:cs typeface="Arial" pitchFamily="34" charset="-120"/>
              </a:rPr>
              <a:t>MATTERHACKERS</a:t>
            </a:r>
            <a:endParaRPr lang="en-US" sz="1300" dirty="0"/>
          </a:p>
        </p:txBody>
      </p:sp>
      <p:sp>
        <p:nvSpPr>
          <p:cNvPr id="10" name="Text 8"/>
          <p:cNvSpPr/>
          <p:nvPr/>
        </p:nvSpPr>
        <p:spPr>
          <a:xfrm>
            <a:off x="457200" y="786384"/>
            <a:ext cx="5669280" cy="914400"/>
          </a:xfrm>
          <a:prstGeom prst="rect">
            <a:avLst/>
          </a:prstGeom>
          <a:noFill/>
          <a:ln/>
        </p:spPr>
        <p:txBody>
          <a:bodyPr wrap="square" rtlCol="0" anchor="ctr"/>
          <a:lstStyle/>
          <a:p>
            <a:pPr indent="0" marL="0">
              <a:buNone/>
            </a:pPr>
            <a:r>
              <a:rPr lang="en-US" sz="5000" b="1" dirty="0">
                <a:solidFill>
                  <a:srgbClr val="FFFFFF"/>
                </a:solidFill>
                <a:latin typeface="Arial" pitchFamily="34" charset="0"/>
                <a:ea typeface="Arial" pitchFamily="34" charset="-122"/>
                <a:cs typeface="Arial" pitchFamily="34" charset="-120"/>
              </a:rPr>
              <a:t>Build</a:t>
            </a:r>
            <a:endParaRPr lang="en-US" sz="5000" dirty="0"/>
          </a:p>
        </p:txBody>
      </p:sp>
      <p:sp>
        <p:nvSpPr>
          <p:cNvPr id="11" name="Text 9"/>
          <p:cNvSpPr/>
          <p:nvPr/>
        </p:nvSpPr>
        <p:spPr>
          <a:xfrm>
            <a:off x="512064" y="1755648"/>
            <a:ext cx="5943600" cy="274320"/>
          </a:xfrm>
          <a:prstGeom prst="rect">
            <a:avLst/>
          </a:prstGeom>
          <a:noFill/>
          <a:ln/>
        </p:spPr>
        <p:txBody>
          <a:bodyPr wrap="square" rtlCol="0" anchor="ctr"/>
          <a:lstStyle/>
          <a:p>
            <a:pPr indent="0" marL="0">
              <a:buNone/>
            </a:pPr>
            <a:r>
              <a:rPr lang="en-US" sz="1150" b="1" spc="200" kern="0" dirty="0">
                <a:solidFill>
                  <a:srgbClr val="FFFFFF"/>
                </a:solidFill>
                <a:latin typeface="Arial" pitchFamily="34" charset="0"/>
                <a:ea typeface="Arial" pitchFamily="34" charset="-122"/>
                <a:cs typeface="Arial" pitchFamily="34" charset="-120"/>
              </a:rPr>
              <a:t>CORE LINE</a:t>
            </a:r>
            <a:endParaRPr lang="en-US" sz="1150" dirty="0"/>
          </a:p>
        </p:txBody>
      </p:sp>
      <p:sp>
        <p:nvSpPr>
          <p:cNvPr id="12" name="Text 10"/>
          <p:cNvSpPr/>
          <p:nvPr/>
        </p:nvSpPr>
        <p:spPr>
          <a:xfrm>
            <a:off x="512064" y="1993392"/>
            <a:ext cx="5486400" cy="365760"/>
          </a:xfrm>
          <a:prstGeom prst="rect">
            <a:avLst/>
          </a:prstGeom>
          <a:noFill/>
          <a:ln/>
        </p:spPr>
        <p:txBody>
          <a:bodyPr wrap="square" rtlCol="0" anchor="ctr"/>
          <a:lstStyle/>
          <a:p>
            <a:pPr indent="0" marL="0">
              <a:buNone/>
            </a:pPr>
            <a:r>
              <a:rPr lang="en-US" sz="1900" b="1" i="1" dirty="0">
                <a:solidFill>
                  <a:srgbClr val="FFFFFF"/>
                </a:solidFill>
                <a:latin typeface="Arial" pitchFamily="34" charset="0"/>
                <a:ea typeface="Arial" pitchFamily="34" charset="-122"/>
                <a:cs typeface="Arial" pitchFamily="34" charset="-120"/>
              </a:rPr>
              <a:t>“Consistency you can count on.”</a:t>
            </a:r>
            <a:endParaRPr lang="en-US" sz="1900" dirty="0"/>
          </a:p>
        </p:txBody>
      </p:sp>
      <p:sp>
        <p:nvSpPr>
          <p:cNvPr id="13" name="Text 11"/>
          <p:cNvSpPr/>
          <p:nvPr/>
        </p:nvSpPr>
        <p:spPr>
          <a:xfrm>
            <a:off x="502920" y="2633472"/>
            <a:ext cx="4572000" cy="256032"/>
          </a:xfrm>
          <a:prstGeom prst="rect">
            <a:avLst/>
          </a:prstGeom>
          <a:noFill/>
          <a:ln/>
        </p:spPr>
        <p:txBody>
          <a:bodyPr wrap="square" rtlCol="0" anchor="ctr"/>
          <a:lstStyle/>
          <a:p>
            <a:pPr indent="0" marL="0">
              <a:buNone/>
            </a:pPr>
            <a:r>
              <a:rPr lang="en-US" sz="1150" b="1" spc="200" kern="0" dirty="0">
                <a:solidFill>
                  <a:srgbClr val="009BFF"/>
                </a:solidFill>
                <a:latin typeface="Arial" pitchFamily="34" charset="0"/>
                <a:ea typeface="Arial" pitchFamily="34" charset="-122"/>
                <a:cs typeface="Arial" pitchFamily="34" charset="-120"/>
              </a:rPr>
              <a:t>THE PROMISE</a:t>
            </a:r>
            <a:endParaRPr lang="en-US" sz="1150" dirty="0"/>
          </a:p>
        </p:txBody>
      </p:sp>
      <p:sp>
        <p:nvSpPr>
          <p:cNvPr id="14" name="Text 12"/>
          <p:cNvSpPr/>
          <p:nvPr/>
        </p:nvSpPr>
        <p:spPr>
          <a:xfrm>
            <a:off x="502920" y="2871216"/>
            <a:ext cx="6766560" cy="457200"/>
          </a:xfrm>
          <a:prstGeom prst="rect">
            <a:avLst/>
          </a:prstGeom>
          <a:noFill/>
          <a:ln/>
        </p:spPr>
        <p:txBody>
          <a:bodyPr wrap="square" rtlCol="0" anchor="ctr"/>
          <a:lstStyle/>
          <a:p>
            <a:pPr indent="0" marL="0">
              <a:buNone/>
            </a:pPr>
            <a:r>
              <a:rPr lang="en-US" sz="1800" b="1" dirty="0">
                <a:solidFill>
                  <a:srgbClr val="14171C"/>
                </a:solidFill>
                <a:latin typeface="Arial" pitchFamily="34" charset="0"/>
                <a:ea typeface="Arial" pitchFamily="34" charset="-122"/>
                <a:cs typeface="Arial" pitchFamily="34" charset="-120"/>
              </a:rPr>
              <a:t>Our best-selling, do-everything filament.</a:t>
            </a:r>
            <a:endParaRPr lang="en-US" sz="1800" dirty="0"/>
          </a:p>
        </p:txBody>
      </p:sp>
      <p:sp>
        <p:nvSpPr>
          <p:cNvPr id="15" name="Text 13"/>
          <p:cNvSpPr/>
          <p:nvPr/>
        </p:nvSpPr>
        <p:spPr>
          <a:xfrm>
            <a:off x="502920" y="3419856"/>
            <a:ext cx="6766560" cy="1005840"/>
          </a:xfrm>
          <a:prstGeom prst="rect">
            <a:avLst/>
          </a:prstGeom>
          <a:noFill/>
          <a:ln/>
        </p:spPr>
        <p:txBody>
          <a:bodyPr wrap="square" rtlCol="0" anchor="t"/>
          <a:lstStyle/>
          <a:p>
            <a:pPr indent="0" marL="0">
              <a:lnSpc>
                <a:spcPts val="1600"/>
              </a:lnSpc>
              <a:buNone/>
            </a:pPr>
            <a:r>
              <a:rPr lang="en-US" sz="1150" dirty="0">
                <a:solidFill>
                  <a:srgbClr val="3C4655"/>
                </a:solidFill>
                <a:latin typeface="Arial" pitchFamily="34" charset="0"/>
                <a:ea typeface="Arial" pitchFamily="34" charset="-122"/>
                <a:cs typeface="Arial" pitchFamily="34" charset="-120"/>
              </a:rPr>
              <a:t>MatterHackers Build is our best-selling filament - the everyday workhorse trusted by more makers than any other line we carry. What sets it apart is consistency: tight color matching and dependable performance from one spool to the next, so the print that worked yesterday works again today. Available in the widest range of materials and colors, Build delivers professional-looking results at a price that still fits the bench.</a:t>
            </a:r>
            <a:endParaRPr lang="en-US" sz="1150" dirty="0"/>
          </a:p>
        </p:txBody>
      </p:sp>
      <p:sp>
        <p:nvSpPr>
          <p:cNvPr id="16" name="Shape 14"/>
          <p:cNvSpPr/>
          <p:nvPr/>
        </p:nvSpPr>
        <p:spPr>
          <a:xfrm>
            <a:off x="502920" y="4480560"/>
            <a:ext cx="548640" cy="548640"/>
          </a:xfrm>
          <a:prstGeom prst="ellipse">
            <a:avLst/>
          </a:prstGeom>
          <a:solidFill>
            <a:srgbClr val="009BFF"/>
          </a:solidFill>
          <a:ln/>
        </p:spPr>
      </p:sp>
      <p:pic>
        <p:nvPicPr>
          <p:cNvPr id="17" name="Image 0" descr="preencoded.png">    </p:cNvPr>
          <p:cNvPicPr>
            <a:picLocks noChangeAspect="1"/>
          </p:cNvPicPr>
          <p:nvPr/>
        </p:nvPicPr>
        <p:blipFill>
          <a:blip r:embed="rId1"/>
          <a:stretch>
            <a:fillRect/>
          </a:stretch>
        </p:blipFill>
        <p:spPr>
          <a:xfrm>
            <a:off x="658368" y="4636008"/>
            <a:ext cx="237744" cy="237744"/>
          </a:xfrm>
          <a:prstGeom prst="rect">
            <a:avLst/>
          </a:prstGeom>
        </p:spPr>
      </p:pic>
      <p:sp>
        <p:nvSpPr>
          <p:cNvPr id="18" name="Text 15"/>
          <p:cNvSpPr/>
          <p:nvPr/>
        </p:nvSpPr>
        <p:spPr>
          <a:xfrm>
            <a:off x="1216152" y="4462272"/>
            <a:ext cx="6035040" cy="292608"/>
          </a:xfrm>
          <a:prstGeom prst="rect">
            <a:avLst/>
          </a:prstGeom>
          <a:noFill/>
          <a:ln/>
        </p:spPr>
        <p:txBody>
          <a:bodyPr wrap="square" rtlCol="0" anchor="ctr"/>
          <a:lstStyle/>
          <a:p>
            <a:pPr indent="0" marL="0">
              <a:buNone/>
            </a:pPr>
            <a:r>
              <a:rPr lang="en-US" sz="1400" b="1" dirty="0">
                <a:solidFill>
                  <a:srgbClr val="14171C"/>
                </a:solidFill>
                <a:latin typeface="Arial" pitchFamily="34" charset="0"/>
                <a:ea typeface="Arial" pitchFamily="34" charset="-122"/>
                <a:cs typeface="Arial" pitchFamily="34" charset="-120"/>
              </a:rPr>
              <a:t>Consistent, spool after spool</a:t>
            </a:r>
            <a:endParaRPr lang="en-US" sz="1400" dirty="0"/>
          </a:p>
        </p:txBody>
      </p:sp>
      <p:sp>
        <p:nvSpPr>
          <p:cNvPr id="19" name="Text 16"/>
          <p:cNvSpPr/>
          <p:nvPr/>
        </p:nvSpPr>
        <p:spPr>
          <a:xfrm>
            <a:off x="1216152" y="4754880"/>
            <a:ext cx="6035040" cy="274320"/>
          </a:xfrm>
          <a:prstGeom prst="rect">
            <a:avLst/>
          </a:prstGeom>
          <a:noFill/>
          <a:ln/>
        </p:spPr>
        <p:txBody>
          <a:bodyPr wrap="square" rtlCol="0" anchor="ctr"/>
          <a:lstStyle/>
          <a:p>
            <a:pPr indent="0" marL="0">
              <a:buNone/>
            </a:pPr>
            <a:r>
              <a:rPr lang="en-US" sz="1100" dirty="0">
                <a:solidFill>
                  <a:srgbClr val="3C4655"/>
                </a:solidFill>
                <a:latin typeface="Arial" pitchFamily="34" charset="0"/>
                <a:ea typeface="Arial" pitchFamily="34" charset="-122"/>
                <a:cs typeface="Arial" pitchFamily="34" charset="-120"/>
              </a:rPr>
              <a:t>Tight color matching and dependable performance, batch after batch.</a:t>
            </a:r>
            <a:endParaRPr lang="en-US" sz="1100" dirty="0"/>
          </a:p>
        </p:txBody>
      </p:sp>
      <p:sp>
        <p:nvSpPr>
          <p:cNvPr id="20" name="Shape 17"/>
          <p:cNvSpPr/>
          <p:nvPr/>
        </p:nvSpPr>
        <p:spPr>
          <a:xfrm>
            <a:off x="502920" y="5084064"/>
            <a:ext cx="548640" cy="548640"/>
          </a:xfrm>
          <a:prstGeom prst="ellipse">
            <a:avLst/>
          </a:prstGeom>
          <a:solidFill>
            <a:srgbClr val="009BFF"/>
          </a:solidFill>
          <a:ln/>
        </p:spPr>
      </p:sp>
      <p:pic>
        <p:nvPicPr>
          <p:cNvPr id="21" name="Image 1" descr="preencoded.png">    </p:cNvPr>
          <p:cNvPicPr>
            <a:picLocks noChangeAspect="1"/>
          </p:cNvPicPr>
          <p:nvPr/>
        </p:nvPicPr>
        <p:blipFill>
          <a:blip r:embed="rId2"/>
          <a:stretch>
            <a:fillRect/>
          </a:stretch>
        </p:blipFill>
        <p:spPr>
          <a:xfrm>
            <a:off x="658368" y="5239512"/>
            <a:ext cx="237744" cy="237744"/>
          </a:xfrm>
          <a:prstGeom prst="rect">
            <a:avLst/>
          </a:prstGeom>
        </p:spPr>
      </p:pic>
      <p:sp>
        <p:nvSpPr>
          <p:cNvPr id="22" name="Text 18"/>
          <p:cNvSpPr/>
          <p:nvPr/>
        </p:nvSpPr>
        <p:spPr>
          <a:xfrm>
            <a:off x="1216152" y="5065776"/>
            <a:ext cx="6035040" cy="292608"/>
          </a:xfrm>
          <a:prstGeom prst="rect">
            <a:avLst/>
          </a:prstGeom>
          <a:noFill/>
          <a:ln/>
        </p:spPr>
        <p:txBody>
          <a:bodyPr wrap="square" rtlCol="0" anchor="ctr"/>
          <a:lstStyle/>
          <a:p>
            <a:pPr indent="0" marL="0">
              <a:buNone/>
            </a:pPr>
            <a:r>
              <a:rPr lang="en-US" sz="1400" b="1" dirty="0">
                <a:solidFill>
                  <a:srgbClr val="14171C"/>
                </a:solidFill>
                <a:latin typeface="Arial" pitchFamily="34" charset="0"/>
                <a:ea typeface="Arial" pitchFamily="34" charset="-122"/>
                <a:cs typeface="Arial" pitchFamily="34" charset="-120"/>
              </a:rPr>
              <a:t>The widest range</a:t>
            </a:r>
            <a:endParaRPr lang="en-US" sz="1400" dirty="0"/>
          </a:p>
        </p:txBody>
      </p:sp>
      <p:sp>
        <p:nvSpPr>
          <p:cNvPr id="23" name="Text 19"/>
          <p:cNvSpPr/>
          <p:nvPr/>
        </p:nvSpPr>
        <p:spPr>
          <a:xfrm>
            <a:off x="1216152" y="5358384"/>
            <a:ext cx="6035040" cy="274320"/>
          </a:xfrm>
          <a:prstGeom prst="rect">
            <a:avLst/>
          </a:prstGeom>
          <a:noFill/>
          <a:ln/>
        </p:spPr>
        <p:txBody>
          <a:bodyPr wrap="square" rtlCol="0" anchor="ctr"/>
          <a:lstStyle/>
          <a:p>
            <a:pPr indent="0" marL="0">
              <a:buNone/>
            </a:pPr>
            <a:r>
              <a:rPr lang="en-US" sz="1100" dirty="0">
                <a:solidFill>
                  <a:srgbClr val="3C4655"/>
                </a:solidFill>
                <a:latin typeface="Arial" pitchFamily="34" charset="0"/>
                <a:ea typeface="Arial" pitchFamily="34" charset="-122"/>
                <a:cs typeface="Arial" pitchFamily="34" charset="-120"/>
              </a:rPr>
              <a:t>PLA, ABS, PETG, TPU, ASA, Nylon and more - in every color.</a:t>
            </a:r>
            <a:endParaRPr lang="en-US" sz="1100" dirty="0"/>
          </a:p>
        </p:txBody>
      </p:sp>
      <p:sp>
        <p:nvSpPr>
          <p:cNvPr id="24" name="Shape 20"/>
          <p:cNvSpPr/>
          <p:nvPr/>
        </p:nvSpPr>
        <p:spPr>
          <a:xfrm>
            <a:off x="502920" y="5687568"/>
            <a:ext cx="548640" cy="548640"/>
          </a:xfrm>
          <a:prstGeom prst="ellipse">
            <a:avLst/>
          </a:prstGeom>
          <a:solidFill>
            <a:srgbClr val="009BFF"/>
          </a:solidFill>
          <a:ln/>
        </p:spPr>
      </p:sp>
      <p:pic>
        <p:nvPicPr>
          <p:cNvPr id="25" name="Image 2" descr="preencoded.png">    </p:cNvPr>
          <p:cNvPicPr>
            <a:picLocks noChangeAspect="1"/>
          </p:cNvPicPr>
          <p:nvPr/>
        </p:nvPicPr>
        <p:blipFill>
          <a:blip r:embed="rId3"/>
          <a:stretch>
            <a:fillRect/>
          </a:stretch>
        </p:blipFill>
        <p:spPr>
          <a:xfrm>
            <a:off x="658368" y="5843016"/>
            <a:ext cx="237744" cy="237744"/>
          </a:xfrm>
          <a:prstGeom prst="rect">
            <a:avLst/>
          </a:prstGeom>
        </p:spPr>
      </p:pic>
      <p:sp>
        <p:nvSpPr>
          <p:cNvPr id="26" name="Text 21"/>
          <p:cNvSpPr/>
          <p:nvPr/>
        </p:nvSpPr>
        <p:spPr>
          <a:xfrm>
            <a:off x="1216152" y="5669280"/>
            <a:ext cx="6035040" cy="292608"/>
          </a:xfrm>
          <a:prstGeom prst="rect">
            <a:avLst/>
          </a:prstGeom>
          <a:noFill/>
          <a:ln/>
        </p:spPr>
        <p:txBody>
          <a:bodyPr wrap="square" rtlCol="0" anchor="ctr"/>
          <a:lstStyle/>
          <a:p>
            <a:pPr indent="0" marL="0">
              <a:buNone/>
            </a:pPr>
            <a:r>
              <a:rPr lang="en-US" sz="1400" b="1" dirty="0">
                <a:solidFill>
                  <a:srgbClr val="14171C"/>
                </a:solidFill>
                <a:latin typeface="Arial" pitchFamily="34" charset="0"/>
                <a:ea typeface="Arial" pitchFamily="34" charset="-122"/>
                <a:cs typeface="Arial" pitchFamily="34" charset="-120"/>
              </a:rPr>
              <a:t>Pro looks, bench price</a:t>
            </a:r>
            <a:endParaRPr lang="en-US" sz="1400" dirty="0"/>
          </a:p>
        </p:txBody>
      </p:sp>
      <p:sp>
        <p:nvSpPr>
          <p:cNvPr id="27" name="Text 22"/>
          <p:cNvSpPr/>
          <p:nvPr/>
        </p:nvSpPr>
        <p:spPr>
          <a:xfrm>
            <a:off x="1216152" y="5961888"/>
            <a:ext cx="6035040" cy="274320"/>
          </a:xfrm>
          <a:prstGeom prst="rect">
            <a:avLst/>
          </a:prstGeom>
          <a:noFill/>
          <a:ln/>
        </p:spPr>
        <p:txBody>
          <a:bodyPr wrap="square" rtlCol="0" anchor="ctr"/>
          <a:lstStyle/>
          <a:p>
            <a:pPr indent="0" marL="0">
              <a:buNone/>
            </a:pPr>
            <a:r>
              <a:rPr lang="en-US" sz="1100" dirty="0">
                <a:solidFill>
                  <a:srgbClr val="3C4655"/>
                </a:solidFill>
                <a:latin typeface="Arial" pitchFamily="34" charset="0"/>
                <a:ea typeface="Arial" pitchFamily="34" charset="-122"/>
                <a:cs typeface="Arial" pitchFamily="34" charset="-120"/>
              </a:rPr>
              <a:t>Professional-looking results that still fit the budget.</a:t>
            </a:r>
            <a:endParaRPr lang="en-US" sz="1100" dirty="0"/>
          </a:p>
        </p:txBody>
      </p:sp>
      <p:sp>
        <p:nvSpPr>
          <p:cNvPr id="28" name="Text 23"/>
          <p:cNvSpPr/>
          <p:nvPr/>
        </p:nvSpPr>
        <p:spPr>
          <a:xfrm>
            <a:off x="502920" y="6345936"/>
            <a:ext cx="4572000" cy="256032"/>
          </a:xfrm>
          <a:prstGeom prst="rect">
            <a:avLst/>
          </a:prstGeom>
          <a:noFill/>
          <a:ln/>
        </p:spPr>
        <p:txBody>
          <a:bodyPr wrap="square" rtlCol="0" anchor="ctr"/>
          <a:lstStyle/>
          <a:p>
            <a:pPr indent="0" marL="0">
              <a:buNone/>
            </a:pPr>
            <a:r>
              <a:rPr lang="en-US" sz="1150" b="1" spc="200" kern="0" dirty="0">
                <a:solidFill>
                  <a:srgbClr val="8A94A6"/>
                </a:solidFill>
                <a:latin typeface="Arial" pitchFamily="34" charset="0"/>
                <a:ea typeface="Arial" pitchFamily="34" charset="-122"/>
                <a:cs typeface="Arial" pitchFamily="34" charset="-120"/>
              </a:rPr>
              <a:t>MATERIALS</a:t>
            </a:r>
            <a:endParaRPr lang="en-US" sz="1150" dirty="0"/>
          </a:p>
        </p:txBody>
      </p:sp>
      <p:sp>
        <p:nvSpPr>
          <p:cNvPr id="29" name="Shape 24"/>
          <p:cNvSpPr/>
          <p:nvPr/>
        </p:nvSpPr>
        <p:spPr>
          <a:xfrm>
            <a:off x="502920" y="6620256"/>
            <a:ext cx="607162" cy="365760"/>
          </a:xfrm>
          <a:prstGeom prst="roundRect">
            <a:avLst>
              <a:gd name="adj" fmla="val 50000"/>
            </a:avLst>
          </a:prstGeom>
          <a:solidFill>
            <a:srgbClr val="F2F4F7"/>
          </a:solidFill>
          <a:ln w="12700">
            <a:solidFill>
              <a:srgbClr val="E7EBF0"/>
            </a:solidFill>
            <a:prstDash val="solid"/>
          </a:ln>
        </p:spPr>
      </p:sp>
      <p:sp>
        <p:nvSpPr>
          <p:cNvPr id="30" name="Text 25"/>
          <p:cNvSpPr/>
          <p:nvPr/>
        </p:nvSpPr>
        <p:spPr>
          <a:xfrm>
            <a:off x="502920" y="6620256"/>
            <a:ext cx="60716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PLA</a:t>
            </a:r>
            <a:endParaRPr lang="en-US" sz="1100" dirty="0"/>
          </a:p>
        </p:txBody>
      </p:sp>
      <p:sp>
        <p:nvSpPr>
          <p:cNvPr id="31" name="Shape 26"/>
          <p:cNvSpPr/>
          <p:nvPr/>
        </p:nvSpPr>
        <p:spPr>
          <a:xfrm>
            <a:off x="1256386" y="6620256"/>
            <a:ext cx="607162" cy="365760"/>
          </a:xfrm>
          <a:prstGeom prst="roundRect">
            <a:avLst>
              <a:gd name="adj" fmla="val 50000"/>
            </a:avLst>
          </a:prstGeom>
          <a:solidFill>
            <a:srgbClr val="F2F4F7"/>
          </a:solidFill>
          <a:ln w="12700">
            <a:solidFill>
              <a:srgbClr val="E7EBF0"/>
            </a:solidFill>
            <a:prstDash val="solid"/>
          </a:ln>
        </p:spPr>
      </p:sp>
      <p:sp>
        <p:nvSpPr>
          <p:cNvPr id="32" name="Text 27"/>
          <p:cNvSpPr/>
          <p:nvPr/>
        </p:nvSpPr>
        <p:spPr>
          <a:xfrm>
            <a:off x="1256386" y="6620256"/>
            <a:ext cx="60716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ABS</a:t>
            </a:r>
            <a:endParaRPr lang="en-US" sz="1100" dirty="0"/>
          </a:p>
        </p:txBody>
      </p:sp>
      <p:sp>
        <p:nvSpPr>
          <p:cNvPr id="33" name="Shape 28"/>
          <p:cNvSpPr/>
          <p:nvPr/>
        </p:nvSpPr>
        <p:spPr>
          <a:xfrm>
            <a:off x="2009851" y="6620256"/>
            <a:ext cx="705917" cy="365760"/>
          </a:xfrm>
          <a:prstGeom prst="roundRect">
            <a:avLst>
              <a:gd name="adj" fmla="val 50000"/>
            </a:avLst>
          </a:prstGeom>
          <a:solidFill>
            <a:srgbClr val="F2F4F7"/>
          </a:solidFill>
          <a:ln w="12700">
            <a:solidFill>
              <a:srgbClr val="E7EBF0"/>
            </a:solidFill>
            <a:prstDash val="solid"/>
          </a:ln>
        </p:spPr>
      </p:sp>
      <p:sp>
        <p:nvSpPr>
          <p:cNvPr id="34" name="Text 29"/>
          <p:cNvSpPr/>
          <p:nvPr/>
        </p:nvSpPr>
        <p:spPr>
          <a:xfrm>
            <a:off x="2009851" y="6620256"/>
            <a:ext cx="705917"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PETG</a:t>
            </a:r>
            <a:endParaRPr lang="en-US" sz="1100" dirty="0"/>
          </a:p>
        </p:txBody>
      </p:sp>
      <p:sp>
        <p:nvSpPr>
          <p:cNvPr id="35" name="Shape 30"/>
          <p:cNvSpPr/>
          <p:nvPr/>
        </p:nvSpPr>
        <p:spPr>
          <a:xfrm>
            <a:off x="2862072" y="6620256"/>
            <a:ext cx="607162" cy="365760"/>
          </a:xfrm>
          <a:prstGeom prst="roundRect">
            <a:avLst>
              <a:gd name="adj" fmla="val 50000"/>
            </a:avLst>
          </a:prstGeom>
          <a:solidFill>
            <a:srgbClr val="F2F4F7"/>
          </a:solidFill>
          <a:ln w="12700">
            <a:solidFill>
              <a:srgbClr val="E7EBF0"/>
            </a:solidFill>
            <a:prstDash val="solid"/>
          </a:ln>
        </p:spPr>
      </p:sp>
      <p:sp>
        <p:nvSpPr>
          <p:cNvPr id="36" name="Text 31"/>
          <p:cNvSpPr/>
          <p:nvPr/>
        </p:nvSpPr>
        <p:spPr>
          <a:xfrm>
            <a:off x="2862072" y="6620256"/>
            <a:ext cx="60716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TPU</a:t>
            </a:r>
            <a:endParaRPr lang="en-US" sz="1100" dirty="0"/>
          </a:p>
        </p:txBody>
      </p:sp>
      <p:sp>
        <p:nvSpPr>
          <p:cNvPr id="37" name="Shape 32"/>
          <p:cNvSpPr/>
          <p:nvPr/>
        </p:nvSpPr>
        <p:spPr>
          <a:xfrm>
            <a:off x="3615538" y="6620256"/>
            <a:ext cx="607162" cy="365760"/>
          </a:xfrm>
          <a:prstGeom prst="roundRect">
            <a:avLst>
              <a:gd name="adj" fmla="val 50000"/>
            </a:avLst>
          </a:prstGeom>
          <a:solidFill>
            <a:srgbClr val="F2F4F7"/>
          </a:solidFill>
          <a:ln w="12700">
            <a:solidFill>
              <a:srgbClr val="E7EBF0"/>
            </a:solidFill>
            <a:prstDash val="solid"/>
          </a:ln>
        </p:spPr>
      </p:sp>
      <p:sp>
        <p:nvSpPr>
          <p:cNvPr id="38" name="Text 33"/>
          <p:cNvSpPr/>
          <p:nvPr/>
        </p:nvSpPr>
        <p:spPr>
          <a:xfrm>
            <a:off x="3615538" y="6620256"/>
            <a:ext cx="60716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ASA</a:t>
            </a:r>
            <a:endParaRPr lang="en-US" sz="1100" dirty="0"/>
          </a:p>
        </p:txBody>
      </p:sp>
      <p:sp>
        <p:nvSpPr>
          <p:cNvPr id="39" name="Shape 34"/>
          <p:cNvSpPr/>
          <p:nvPr/>
        </p:nvSpPr>
        <p:spPr>
          <a:xfrm>
            <a:off x="4369003" y="6620256"/>
            <a:ext cx="804672" cy="365760"/>
          </a:xfrm>
          <a:prstGeom prst="roundRect">
            <a:avLst>
              <a:gd name="adj" fmla="val 50000"/>
            </a:avLst>
          </a:prstGeom>
          <a:solidFill>
            <a:srgbClr val="F2F4F7"/>
          </a:solidFill>
          <a:ln w="12700">
            <a:solidFill>
              <a:srgbClr val="E7EBF0"/>
            </a:solidFill>
            <a:prstDash val="solid"/>
          </a:ln>
        </p:spPr>
      </p:sp>
      <p:sp>
        <p:nvSpPr>
          <p:cNvPr id="40" name="Text 35"/>
          <p:cNvSpPr/>
          <p:nvPr/>
        </p:nvSpPr>
        <p:spPr>
          <a:xfrm>
            <a:off x="4369003" y="6620256"/>
            <a:ext cx="80467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Nylon</a:t>
            </a:r>
            <a:endParaRPr lang="en-US" sz="1100" dirty="0"/>
          </a:p>
        </p:txBody>
      </p:sp>
      <p:sp>
        <p:nvSpPr>
          <p:cNvPr id="41" name="Shape 36"/>
          <p:cNvSpPr/>
          <p:nvPr/>
        </p:nvSpPr>
        <p:spPr>
          <a:xfrm>
            <a:off x="5319979" y="6620256"/>
            <a:ext cx="607162" cy="365760"/>
          </a:xfrm>
          <a:prstGeom prst="roundRect">
            <a:avLst>
              <a:gd name="adj" fmla="val 50000"/>
            </a:avLst>
          </a:prstGeom>
          <a:solidFill>
            <a:srgbClr val="F2F4F7"/>
          </a:solidFill>
          <a:ln w="12700">
            <a:solidFill>
              <a:srgbClr val="E7EBF0"/>
            </a:solidFill>
            <a:prstDash val="solid"/>
          </a:ln>
        </p:spPr>
      </p:sp>
      <p:sp>
        <p:nvSpPr>
          <p:cNvPr id="42" name="Text 37"/>
          <p:cNvSpPr/>
          <p:nvPr/>
        </p:nvSpPr>
        <p:spPr>
          <a:xfrm>
            <a:off x="5319979" y="6620256"/>
            <a:ext cx="607162" cy="365760"/>
          </a:xfrm>
          <a:prstGeom prst="rect">
            <a:avLst/>
          </a:prstGeom>
          <a:noFill/>
          <a:ln/>
        </p:spPr>
        <p:txBody>
          <a:bodyPr wrap="square" rtlCol="0" anchor="ctr"/>
          <a:lstStyle/>
          <a:p>
            <a:pPr algn="ctr" indent="0" marL="0">
              <a:buNone/>
            </a:pPr>
            <a:r>
              <a:rPr lang="en-US" sz="1100" b="1" dirty="0">
                <a:solidFill>
                  <a:srgbClr val="009BFF"/>
                </a:solidFill>
                <a:latin typeface="Arial" pitchFamily="34" charset="0"/>
                <a:ea typeface="Arial" pitchFamily="34" charset="-122"/>
                <a:cs typeface="Arial" pitchFamily="34" charset="-120"/>
              </a:rPr>
              <a:t>PVA</a:t>
            </a:r>
            <a:endParaRPr lang="en-US" sz="1100" dirty="0"/>
          </a:p>
        </p:txBody>
      </p:sp>
      <p:sp>
        <p:nvSpPr>
          <p:cNvPr id="43" name="Shape 38"/>
          <p:cNvSpPr/>
          <p:nvPr/>
        </p:nvSpPr>
        <p:spPr>
          <a:xfrm>
            <a:off x="502920" y="7589520"/>
            <a:ext cx="3246120" cy="1207008"/>
          </a:xfrm>
          <a:prstGeom prst="rect">
            <a:avLst/>
          </a:prstGeom>
          <a:solidFill>
            <a:srgbClr val="009BFF"/>
          </a:solidFill>
          <a:ln/>
          <a:effectLst>
            <a:outerShdw sx="100000" sy="100000" kx="0" ky="0" algn="bl" rotWithShape="0" blurRad="88900" dist="25400" dir="5400000">
              <a:srgbClr val="000000">
                <a:alpha val="18000"/>
              </a:srgbClr>
            </a:outerShdw>
          </a:effectLst>
        </p:spPr>
      </p:sp>
      <p:sp>
        <p:nvSpPr>
          <p:cNvPr id="44" name="Text 39"/>
          <p:cNvSpPr/>
          <p:nvPr/>
        </p:nvSpPr>
        <p:spPr>
          <a:xfrm>
            <a:off x="713232" y="7790688"/>
            <a:ext cx="2834640" cy="54864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#1-selling</a:t>
            </a:r>
            <a:endParaRPr lang="en-US" sz="2800" dirty="0"/>
          </a:p>
        </p:txBody>
      </p:sp>
      <p:sp>
        <p:nvSpPr>
          <p:cNvPr id="45" name="Text 40"/>
          <p:cNvSpPr/>
          <p:nvPr/>
        </p:nvSpPr>
        <p:spPr>
          <a:xfrm>
            <a:off x="713232" y="8339328"/>
            <a:ext cx="2834640" cy="384048"/>
          </a:xfrm>
          <a:prstGeom prst="rect">
            <a:avLst/>
          </a:prstGeom>
          <a:noFill/>
          <a:ln/>
        </p:spPr>
        <p:txBody>
          <a:bodyPr wrap="square" rtlCol="0" anchor="ctr"/>
          <a:lstStyle/>
          <a:p>
            <a:pPr indent="0" marL="0">
              <a:lnSpc>
                <a:spcPts val="1300"/>
              </a:lnSpc>
              <a:buNone/>
            </a:pPr>
            <a:r>
              <a:rPr lang="en-US" sz="1100" dirty="0">
                <a:solidFill>
                  <a:srgbClr val="FFFFFF"/>
                </a:solidFill>
                <a:latin typeface="Arial" pitchFamily="34" charset="0"/>
                <a:ea typeface="Arial" pitchFamily="34" charset="-122"/>
                <a:cs typeface="Arial" pitchFamily="34" charset="-120"/>
              </a:rPr>
              <a:t>filament at MatterHackers</a:t>
            </a:r>
            <a:endParaRPr lang="en-US" sz="1100" dirty="0"/>
          </a:p>
        </p:txBody>
      </p:sp>
      <p:sp>
        <p:nvSpPr>
          <p:cNvPr id="46" name="Shape 41"/>
          <p:cNvSpPr/>
          <p:nvPr/>
        </p:nvSpPr>
        <p:spPr>
          <a:xfrm>
            <a:off x="3977640" y="7589520"/>
            <a:ext cx="3291840" cy="1207008"/>
          </a:xfrm>
          <a:prstGeom prst="rect">
            <a:avLst/>
          </a:prstGeom>
          <a:solidFill>
            <a:srgbClr val="F2F4F7"/>
          </a:solidFill>
          <a:ln w="12700">
            <a:solidFill>
              <a:srgbClr val="E7EBF0"/>
            </a:solidFill>
            <a:prstDash val="solid"/>
          </a:ln>
        </p:spPr>
      </p:sp>
      <p:sp>
        <p:nvSpPr>
          <p:cNvPr id="47" name="Text 42"/>
          <p:cNvSpPr/>
          <p:nvPr/>
        </p:nvSpPr>
        <p:spPr>
          <a:xfrm>
            <a:off x="4206240" y="7726680"/>
            <a:ext cx="2743200" cy="256032"/>
          </a:xfrm>
          <a:prstGeom prst="rect">
            <a:avLst/>
          </a:prstGeom>
          <a:noFill/>
          <a:ln/>
        </p:spPr>
        <p:txBody>
          <a:bodyPr wrap="square" rtlCol="0" anchor="ctr"/>
          <a:lstStyle/>
          <a:p>
            <a:pPr indent="0" marL="0">
              <a:buNone/>
            </a:pPr>
            <a:r>
              <a:rPr lang="en-US" sz="1100" b="1" spc="200" kern="0" dirty="0">
                <a:solidFill>
                  <a:srgbClr val="009BFF"/>
                </a:solidFill>
                <a:latin typeface="Arial" pitchFamily="34" charset="0"/>
                <a:ea typeface="Arial" pitchFamily="34" charset="-122"/>
                <a:cs typeface="Arial" pitchFamily="34" charset="-120"/>
              </a:rPr>
              <a:t>BEST FOR</a:t>
            </a:r>
            <a:endParaRPr lang="en-US" sz="1100" dirty="0"/>
          </a:p>
        </p:txBody>
      </p:sp>
      <p:sp>
        <p:nvSpPr>
          <p:cNvPr id="48" name="Text 43"/>
          <p:cNvSpPr/>
          <p:nvPr/>
        </p:nvSpPr>
        <p:spPr>
          <a:xfrm>
            <a:off x="4224528" y="7991856"/>
            <a:ext cx="2926080" cy="777240"/>
          </a:xfrm>
          <a:prstGeom prst="rect">
            <a:avLst/>
          </a:prstGeom>
          <a:noFill/>
          <a:ln/>
        </p:spPr>
        <p:txBody>
          <a:bodyPr wrap="square" rtlCol="0" anchor="t"/>
          <a:lstStyle/>
          <a:p>
            <a:pPr marL="342900" indent="-342900">
              <a:spcAft>
                <a:spcPts val="200"/>
              </a:spcAft>
              <a:buSzPct val="100000"/>
              <a:buChar char="•"/>
            </a:pPr>
            <a:r>
              <a:rPr lang="en-US" sz="1100" dirty="0">
                <a:solidFill>
                  <a:srgbClr val="3C4655"/>
                </a:solidFill>
                <a:latin typeface="Arial" pitchFamily="34" charset="0"/>
                <a:ea typeface="Arial" pitchFamily="34" charset="-122"/>
                <a:cs typeface="Arial" pitchFamily="34" charset="-120"/>
              </a:rPr>
              <a:t>Everyday printing</a:t>
            </a:r>
            <a:endParaRPr lang="en-US" sz="1100" dirty="0"/>
          </a:p>
          <a:p>
            <a:pPr marL="342900" indent="-342900">
              <a:spcAft>
                <a:spcPts val="200"/>
              </a:spcAft>
              <a:buSzPct val="100000"/>
              <a:buChar char="•"/>
            </a:pPr>
            <a:r>
              <a:rPr lang="en-US" sz="1100" dirty="0">
                <a:solidFill>
                  <a:srgbClr val="3C4655"/>
                </a:solidFill>
                <a:latin typeface="Arial" pitchFamily="34" charset="0"/>
                <a:ea typeface="Arial" pitchFamily="34" charset="-122"/>
                <a:cs typeface="Arial" pitchFamily="34" charset="-120"/>
              </a:rPr>
              <a:t>Personal projects</a:t>
            </a:r>
            <a:endParaRPr lang="en-US" sz="1100" dirty="0"/>
          </a:p>
          <a:p>
            <a:pPr marL="342900" indent="-342900">
              <a:spcAft>
                <a:spcPts val="200"/>
              </a:spcAft>
              <a:buSzPct val="100000"/>
              <a:buChar char="•"/>
            </a:pPr>
            <a:r>
              <a:rPr lang="en-US" sz="1100" dirty="0">
                <a:solidFill>
                  <a:srgbClr val="3C4655"/>
                </a:solidFill>
                <a:latin typeface="Arial" pitchFamily="34" charset="0"/>
                <a:ea typeface="Arial" pitchFamily="34" charset="-122"/>
                <a:cs typeface="Arial" pitchFamily="34" charset="-120"/>
              </a:rPr>
              <a:t>Production-ready prototypes</a:t>
            </a:r>
            <a:endParaRPr lang="en-US" sz="1100" dirty="0"/>
          </a:p>
          <a:p>
            <a:pPr marL="342900" indent="-342900">
              <a:spcAft>
                <a:spcPts val="200"/>
              </a:spcAft>
              <a:buSzPct val="100000"/>
              <a:buChar char="•"/>
            </a:pPr>
            <a:r>
              <a:rPr lang="en-US" sz="1100" dirty="0">
                <a:solidFill>
                  <a:srgbClr val="3C4655"/>
                </a:solidFill>
                <a:latin typeface="Arial" pitchFamily="34" charset="0"/>
                <a:ea typeface="Arial" pitchFamily="34" charset="-122"/>
                <a:cs typeface="Arial" pitchFamily="34" charset="-120"/>
              </a:rPr>
              <a:t>Multi-material builds</a:t>
            </a:r>
            <a:endParaRPr lang="en-US" sz="1100" dirty="0"/>
          </a:p>
        </p:txBody>
      </p:sp>
      <p:sp>
        <p:nvSpPr>
          <p:cNvPr id="49" name="Shape 44"/>
          <p:cNvSpPr/>
          <p:nvPr/>
        </p:nvSpPr>
        <p:spPr>
          <a:xfrm>
            <a:off x="502920" y="8942832"/>
            <a:ext cx="6766560" cy="603504"/>
          </a:xfrm>
          <a:prstGeom prst="rect">
            <a:avLst/>
          </a:prstGeom>
          <a:solidFill>
            <a:srgbClr val="E7EBF0"/>
          </a:solidFill>
          <a:ln/>
        </p:spPr>
      </p:sp>
      <p:sp>
        <p:nvSpPr>
          <p:cNvPr id="50" name="Text 45"/>
          <p:cNvSpPr/>
          <p:nvPr/>
        </p:nvSpPr>
        <p:spPr>
          <a:xfrm>
            <a:off x="658368" y="9015984"/>
            <a:ext cx="5486400" cy="201168"/>
          </a:xfrm>
          <a:prstGeom prst="rect">
            <a:avLst/>
          </a:prstGeom>
          <a:noFill/>
          <a:ln/>
        </p:spPr>
        <p:txBody>
          <a:bodyPr wrap="square" rtlCol="0" anchor="ctr"/>
          <a:lstStyle/>
          <a:p>
            <a:pPr indent="0" marL="0">
              <a:buNone/>
            </a:pPr>
            <a:r>
              <a:rPr lang="en-US" sz="850" b="1" spc="150" kern="0" dirty="0">
                <a:solidFill>
                  <a:srgbClr val="8A94A6"/>
                </a:solidFill>
                <a:latin typeface="Arial" pitchFamily="34" charset="0"/>
                <a:ea typeface="Arial" pitchFamily="34" charset="-122"/>
                <a:cs typeface="Arial" pitchFamily="34" charset="-120"/>
              </a:rPr>
              <a:t>SEARCH / META DESCRIPTION</a:t>
            </a:r>
            <a:endParaRPr lang="en-US" sz="850" dirty="0"/>
          </a:p>
        </p:txBody>
      </p:sp>
      <p:sp>
        <p:nvSpPr>
          <p:cNvPr id="51" name="Text 46"/>
          <p:cNvSpPr/>
          <p:nvPr/>
        </p:nvSpPr>
        <p:spPr>
          <a:xfrm>
            <a:off x="658368" y="9198864"/>
            <a:ext cx="6492240" cy="310896"/>
          </a:xfrm>
          <a:prstGeom prst="rect">
            <a:avLst/>
          </a:prstGeom>
          <a:noFill/>
          <a:ln/>
        </p:spPr>
        <p:txBody>
          <a:bodyPr wrap="square" rtlCol="0" anchor="t"/>
          <a:lstStyle/>
          <a:p>
            <a:pPr indent="0" marL="0">
              <a:lnSpc>
                <a:spcPts val="1100"/>
              </a:lnSpc>
              <a:buNone/>
            </a:pPr>
            <a:r>
              <a:rPr lang="en-US" sz="950" i="1" dirty="0">
                <a:solidFill>
                  <a:srgbClr val="3C4655"/>
                </a:solidFill>
                <a:latin typeface="Arial" pitchFamily="34" charset="0"/>
                <a:ea typeface="Arial" pitchFamily="34" charset="-122"/>
                <a:cs typeface="Arial" pitchFamily="34" charset="-120"/>
              </a:rPr>
              <a:t>MatterHackers Build is our #1-selling 3D printer filament: consistent color and performance spool after spool, in the widest range of materials - at a price that fits the bench.</a:t>
            </a:r>
            <a:endParaRPr lang="en-US" sz="950" dirty="0"/>
          </a:p>
        </p:txBody>
      </p:sp>
      <p:sp>
        <p:nvSpPr>
          <p:cNvPr id="52" name="Shape 47"/>
          <p:cNvSpPr/>
          <p:nvPr/>
        </p:nvSpPr>
        <p:spPr>
          <a:xfrm>
            <a:off x="0" y="9692640"/>
            <a:ext cx="7772400" cy="365760"/>
          </a:xfrm>
          <a:prstGeom prst="rect">
            <a:avLst/>
          </a:prstGeom>
          <a:solidFill>
            <a:srgbClr val="009BFF"/>
          </a:solidFill>
          <a:ln/>
        </p:spPr>
      </p:sp>
      <p:sp>
        <p:nvSpPr>
          <p:cNvPr id="53" name="Text 48"/>
          <p:cNvSpPr/>
          <p:nvPr/>
        </p:nvSpPr>
        <p:spPr>
          <a:xfrm>
            <a:off x="502920" y="9692640"/>
            <a:ext cx="3657600" cy="36576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matterhackers.com</a:t>
            </a:r>
            <a:endParaRPr lang="en-US" sz="1100" dirty="0"/>
          </a:p>
        </p:txBody>
      </p:sp>
      <p:sp>
        <p:nvSpPr>
          <p:cNvPr id="54" name="Text 49"/>
          <p:cNvSpPr/>
          <p:nvPr/>
        </p:nvSpPr>
        <p:spPr>
          <a:xfrm>
            <a:off x="3657600" y="9692640"/>
            <a:ext cx="3611880" cy="36576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MatterHackers Build  ·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2026-06-29T17:49:59Z</dcterms:created>
  <dcterms:modified xsi:type="dcterms:W3CDTF">2026-06-29T17:49:59Z</dcterms:modified>
</cp:coreProperties>
</file>