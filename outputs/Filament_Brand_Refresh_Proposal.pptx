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54864" cy="6858000"/>
          </a:xfrm>
          <a:prstGeom prst="rect">
            <a:avLst/>
          </a:prstGeom>
          <a:solidFill>
            <a:srgbClr val="3A434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96528" y="0"/>
            <a:ext cx="54864" cy="6858000"/>
          </a:xfrm>
          <a:prstGeom prst="rect">
            <a:avLst/>
          </a:prstGeom>
          <a:solidFill>
            <a:srgbClr val="3A43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63456" y="0"/>
            <a:ext cx="54864" cy="6858000"/>
          </a:xfrm>
          <a:prstGeom prst="rect">
            <a:avLst/>
          </a:prstGeom>
          <a:solidFill>
            <a:srgbClr val="3A434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30384" y="0"/>
            <a:ext cx="54864" cy="6858000"/>
          </a:xfrm>
          <a:prstGeom prst="rect">
            <a:avLst/>
          </a:prstGeom>
          <a:solidFill>
            <a:srgbClr val="3A434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97312" y="0"/>
            <a:ext cx="54864" cy="6858000"/>
          </a:xfrm>
          <a:prstGeom prst="rect">
            <a:avLst/>
          </a:prstGeom>
          <a:solidFill>
            <a:srgbClr val="3A434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0"/>
            <a:ext cx="54864" cy="6858000"/>
          </a:xfrm>
          <a:prstGeom prst="rect">
            <a:avLst/>
          </a:prstGeom>
          <a:solidFill>
            <a:srgbClr val="3A434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3A434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REFRESH  -  REVISED DIRECTION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First-Party Filament:</a:t>
            </a:r>
            <a:endParaRPr lang="en-US" sz="45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Lines, One System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Simplifying the names, folding the engineering composites into PRO, and making country-of-origin a clear, per-product label.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2779776" cy="438912"/>
          </a:xfrm>
          <a:prstGeom prst="roundRect">
            <a:avLst>
              <a:gd name="adj" fmla="val 50000"/>
            </a:avLst>
          </a:prstGeom>
          <a:solidFill>
            <a:srgbClr val="2C333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29200"/>
            <a:ext cx="2779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ThriftyMake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30752" y="5029200"/>
            <a:ext cx="2187245" cy="438912"/>
          </a:xfrm>
          <a:prstGeom prst="roundRect">
            <a:avLst>
              <a:gd name="adj" fmla="val 50000"/>
            </a:avLst>
          </a:prstGeom>
          <a:solidFill>
            <a:srgbClr val="2C333D"/>
          </a:solidFill>
          <a:ln w="19050">
            <a:solidFill>
              <a:srgbClr val="009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5029200"/>
            <a:ext cx="218724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Build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7453" y="5029200"/>
            <a:ext cx="1989734" cy="438912"/>
          </a:xfrm>
          <a:prstGeom prst="roundRect">
            <a:avLst>
              <a:gd name="adj" fmla="val 50000"/>
            </a:avLst>
          </a:prstGeom>
          <a:solidFill>
            <a:srgbClr val="2C333D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7453" y="5029200"/>
            <a:ext cx="19897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PRO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first-party product line refresh  · 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REVISED DIRECTION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decisions reshape the portfolio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refresh simplifies how the lines are named and gives the engineering composites a home - without launching a new brand.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9496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5394960" cy="118872"/>
          </a:xfrm>
          <a:prstGeom prst="rect">
            <a:avLst/>
          </a:prstGeom>
          <a:solidFill>
            <a:srgbClr val="009B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60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800600" y="2651760"/>
            <a:ext cx="822960" cy="822960"/>
          </a:xfrm>
          <a:prstGeom prst="ellipse">
            <a:avLst/>
          </a:prstGeom>
          <a:solidFill>
            <a:srgbClr val="009B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286207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3611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the names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87552" y="42519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"Series." Every line carries the full MatterHackers wordmark: MatterHackers ThriftyMake, MatterHackers Build, and MatterHackers PRO.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55080" y="2240280"/>
            <a:ext cx="539496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2240280"/>
            <a:ext cx="5394960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2560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10515600" y="265176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286207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02552" y="3611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engineering into PRO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702552" y="42519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NylonX, NylonG and NylonK join PRO instead of a separate line. PRO becomes the premium-performance tier - and we label country-of-origin on each SKU.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7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IT SOLVES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no longer has to mean "Made in USA"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tension: PRO was defined by domestic manufacturing, so premium imported composites had nowhere to live. Broadening PRO to mean performance - and labeling origin per SKU - dissolves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56432" cy="3154680"/>
          </a:xfrm>
          <a:prstGeom prst="rect">
            <a:avLst/>
          </a:prstGeom>
          <a:solidFill>
            <a:srgbClr val="2C333D"/>
          </a:solidFill>
          <a:ln w="12700">
            <a:solidFill>
              <a:srgbClr val="3A43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752344"/>
            <a:ext cx="786384" cy="786384"/>
          </a:xfrm>
          <a:prstGeom prst="ellipse">
            <a:avLst/>
          </a:prstGeom>
          <a:solidFill>
            <a:srgbClr val="14171C"/>
          </a:solidFill>
          <a:ln w="19050">
            <a:solidFill>
              <a:srgbClr val="E07B2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94436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3703320"/>
            <a:ext cx="28895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composites were orphaned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50976" y="4361688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NylonX/G/K are premium but imported - they broke PRO's American-made promise and sat on PRO URLs with no real home.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7408" y="2423160"/>
            <a:ext cx="3456432" cy="3154680"/>
          </a:xfrm>
          <a:prstGeom prst="rect">
            <a:avLst/>
          </a:prstGeom>
          <a:solidFill>
            <a:srgbClr val="2C333D"/>
          </a:solidFill>
          <a:ln w="12700">
            <a:solidFill>
              <a:srgbClr val="3A43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8304" y="2752344"/>
            <a:ext cx="786384" cy="786384"/>
          </a:xfrm>
          <a:prstGeom prst="ellipse">
            <a:avLst/>
          </a:prstGeom>
          <a:solidFill>
            <a:srgbClr val="14171C"/>
          </a:solidFill>
          <a:ln w="19050">
            <a:solidFill>
              <a:srgbClr val="E07B2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94436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8304" y="3703320"/>
            <a:ext cx="28895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PRO = performance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18304" y="4361688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is the professional-grade tier. The composites belong there on merit, alongside the US-made precision staples.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74736" y="2423160"/>
            <a:ext cx="3456432" cy="3154680"/>
          </a:xfrm>
          <a:prstGeom prst="rect">
            <a:avLst/>
          </a:prstGeom>
          <a:solidFill>
            <a:srgbClr val="2C333D"/>
          </a:solidFill>
          <a:ln w="12700">
            <a:solidFill>
              <a:srgbClr val="3A43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2752344"/>
            <a:ext cx="786384" cy="786384"/>
          </a:xfrm>
          <a:prstGeom prst="ellipse">
            <a:avLst/>
          </a:prstGeom>
          <a:solidFill>
            <a:srgbClr val="14171C"/>
          </a:solidFill>
          <a:ln w="19050">
            <a:solidFill>
              <a:srgbClr val="009B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94436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5632" y="3703320"/>
            <a:ext cx="28895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USA story is kept - as a badge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85632" y="4361688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"Made in USA" moves from the brand's gate to a visible, filterable per-SKU label. Still celebrated, no longer exclusionary.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1 - NAMING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names, one consistent wordmark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"Series" and lead with the full MatterHackers name. Shorter, more modern, and consistent across the shelf and the site.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7280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118872" cy="11155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2743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ThriftyMake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6060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0" y="2194560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ThriftyMake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75320" y="2322576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sub-brand name kept; just prefixed with MatterHackers for consistency.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438144"/>
            <a:ext cx="1097280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3438144"/>
            <a:ext cx="118872" cy="1115568"/>
          </a:xfrm>
          <a:prstGeom prst="rect">
            <a:avLst/>
          </a:prstGeom>
          <a:solidFill>
            <a:srgbClr val="009BF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38144"/>
            <a:ext cx="2743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 Build Series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84962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0" y="3438144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Build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275320" y="35661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"MH" expands to the full wordmark; "Series" dropped. Protects the #1-seller equity.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681728"/>
            <a:ext cx="1097280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4681728"/>
            <a:ext cx="118872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4681728"/>
            <a:ext cx="2743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Series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50932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89120" y="4681728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 PRO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75320" y="4809744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"Series" dropped; PRO stands on its own as the premium-performance tier.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0080" y="59253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note: "MatterHackers Build" is longer than "MH Build" - the label system (slide 11) keeps the wordmark compact and the tier name dominant.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lines, one ladder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core, and premium - with the engineering composites living inside PRO rather than in a fourth brand.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584448" cy="28803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3657600"/>
            <a:ext cx="658368" cy="658368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822192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444398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50976" y="4718304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ThriftyMake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0976" y="5687568"/>
            <a:ext cx="298094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cost per spool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35424" y="2788920"/>
            <a:ext cx="3584448" cy="3474720"/>
          </a:xfrm>
          <a:prstGeom prst="rect">
            <a:avLst/>
          </a:prstGeom>
          <a:solidFill>
            <a:srgbClr val="009B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28032" y="3063240"/>
            <a:ext cx="658368" cy="658368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3227832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384962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46320" y="4123944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5093208"/>
            <a:ext cx="298094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all-round value and the widest range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430768" y="2240280"/>
            <a:ext cx="3584448" cy="40233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23376" y="2514600"/>
            <a:ext cx="658368" cy="658368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679192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41664" y="330098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- PROFESSIONAL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741664" y="3575304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741664" y="4544568"/>
            <a:ext cx="298094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performance and tightest tolerances, now including the engineering composites - origin labeled per SKU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1082528" y="2478024"/>
            <a:ext cx="676656" cy="6766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A9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150194" y="2545690"/>
            <a:ext cx="541325" cy="541325"/>
          </a:xfrm>
          <a:prstGeom prst="ellipse">
            <a:avLst/>
          </a:prstGeom>
          <a:solidFill>
            <a:srgbClr val="1F3A93"/>
          </a:solidFill>
          <a:ln/>
        </p:spPr>
      </p:sp>
      <p:sp>
        <p:nvSpPr>
          <p:cNvPr id="25" name="Text 20"/>
          <p:cNvSpPr/>
          <p:nvPr/>
        </p:nvSpPr>
        <p:spPr>
          <a:xfrm>
            <a:off x="11082528" y="247802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9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</a:t>
            </a:r>
            <a:endParaRPr lang="en-US" sz="629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629" dirty="0"/>
          </a:p>
        </p:txBody>
      </p:sp>
      <p:sp>
        <p:nvSpPr>
          <p:cNvPr id="26" name="Text 21"/>
          <p:cNvSpPr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height = rising performance &amp; price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SHIFT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Redefining PRO: performance first, origin labeled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definition of PRO changes - from a manufacturing-origin claim to a performance standard. This is what makes folding in the composites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2788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87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"American-made precision"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419856"/>
            <a:ext cx="128016" cy="128016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was the boundary of the 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877056"/>
            <a:ext cx="128016" cy="128016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767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 + Made-in-USA defined PRO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334256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224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imports were locked out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5303520" cy="2788920"/>
          </a:xfrm>
          <a:prstGeom prst="rect">
            <a:avLst/>
          </a:prstGeom>
          <a:solidFill>
            <a:srgbClr val="14171C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2286000"/>
            <a:ext cx="5303520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505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7797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"Professional-grade performance"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40156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03720" y="3310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Tightest tolerances &amp; engineered formulations</a:t>
            </a:r>
            <a:endParaRPr lang="en-US" sz="12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85876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3720" y="3767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 US-made staples + global composites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31596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03720" y="42245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Country-of-origin shown on every SKU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protect: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American-made story stays front-and-center as a badge buyers can see and filter - a real asset for government, defense and domestic-sourcing customers - without capping what PRO can include.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ORIGIN TRANSPARENT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 SKU says where it's made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origin is no longer the brand boundary, it has to be unmistakable at the product level. One badge, one filter, applied everywhere.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657600" cy="3931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926080"/>
            <a:ext cx="1234440" cy="12344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A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3564" y="3049524"/>
            <a:ext cx="987552" cy="987552"/>
          </a:xfrm>
          <a:prstGeom prst="ellipse">
            <a:avLst/>
          </a:prstGeom>
          <a:solidFill>
            <a:srgbClr val="1F3A9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260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</a:t>
            </a:r>
            <a:endParaRPr lang="en-US" sz="1148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1148" dirty="0"/>
          </a:p>
        </p:txBody>
      </p:sp>
      <p:sp>
        <p:nvSpPr>
          <p:cNvPr id="10" name="Text 8"/>
          <p:cNvSpPr/>
          <p:nvPr/>
        </p:nvSpPr>
        <p:spPr>
          <a:xfrm>
            <a:off x="2423160" y="3154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US-made SKUs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349300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PRO PLA, ABS, ASA, Nylon, PPS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461772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2C333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4828032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0120" y="5440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GLOBALLY</a:t>
            </a:r>
            <a:endParaRPr lang="en-US" sz="9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423160" y="4846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SKUs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423160" y="51846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NylonX, NylonG, NylonK - country shown where known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3440" y="2331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shows up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663440" y="2880360"/>
            <a:ext cx="548640" cy="548640"/>
          </a:xfrm>
          <a:prstGeom prst="ellipse">
            <a:avLst/>
          </a:prstGeom>
          <a:solidFill>
            <a:srgbClr val="1F3A9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03580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58384" y="2862072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product page &amp; spool label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358384" y="3172968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origin line on every PRO listing and physical label - no digging required.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663440" y="3721608"/>
            <a:ext cx="548640" cy="548640"/>
          </a:xfrm>
          <a:prstGeom prst="ellipse">
            <a:avLst/>
          </a:prstGeom>
          <a:solidFill>
            <a:srgbClr val="1F3A9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3877056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58384" y="3703320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store filter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358384" y="4014216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site-wide "Made in USA" toggle so buyers who require domestic sourcing can shop it in one click.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663440" y="4562856"/>
            <a:ext cx="548640" cy="548640"/>
          </a:xfrm>
          <a:prstGeom prst="ellipse">
            <a:avLst/>
          </a:prstGeom>
          <a:solidFill>
            <a:srgbClr val="1F3A9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4718304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58384" y="4544568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curated collection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358384" y="4855464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a "Made in USA" collection into the government / defense storefront where it matters most.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663440" y="5404104"/>
            <a:ext cx="548640" cy="548640"/>
          </a:xfrm>
          <a:prstGeom prst="ellipse">
            <a:avLst/>
          </a:prstGeom>
          <a:solidFill>
            <a:srgbClr val="1F3A9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5559552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58384" y="5385816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honesty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358384" y="5696712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hide that a composite is imported. Transparency protects the trust PRO has built.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PRO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 banner, two material families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share PRO's tolerances, QA and premium price band. An optional "Composite" descriptor aids navigation - no separate brand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374904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5349240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70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 ·  PRECISION STAPLES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2606040"/>
            <a:ext cx="868680" cy="8686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A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4628" y="2692908"/>
            <a:ext cx="694944" cy="694944"/>
          </a:xfrm>
          <a:prstGeom prst="ellipse">
            <a:avLst/>
          </a:prstGeom>
          <a:solidFill>
            <a:srgbClr val="1F3A9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7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</a:t>
            </a:r>
            <a:endParaRPr lang="en-US" sz="807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807" dirty="0"/>
          </a:p>
        </p:txBody>
      </p:sp>
      <p:sp>
        <p:nvSpPr>
          <p:cNvPr id="11" name="Text 9"/>
          <p:cNvSpPr/>
          <p:nvPr/>
        </p:nvSpPr>
        <p:spPr>
          <a:xfrm>
            <a:off x="914400" y="3035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Domestic, functional workhorses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4930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  ·  Tough PLA  ·  ABS  ·  ASA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14223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PETG  ·  Nylon  ·  PPS  ·  PVA support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67258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4553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+/-0.02mm tolerance, color-consistent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5202936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0840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 USA badge applies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377440"/>
            <a:ext cx="5349240" cy="374904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377440"/>
            <a:ext cx="5349240" cy="118872"/>
          </a:xfrm>
          <a:prstGeom prst="rect">
            <a:avLst/>
          </a:prstGeom>
          <a:solidFill>
            <a:srgbClr val="E07B2C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670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5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 ·  COMPOSITE  (ENGINEERING)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469880" y="260604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2C33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469880" y="26060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92240" y="3035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Fiber-reinforced, metal-replacing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92240" y="3611880"/>
            <a:ext cx="128016" cy="128016"/>
          </a:xfrm>
          <a:prstGeom prst="ellipse">
            <a:avLst/>
          </a:prstGeom>
          <a:solidFill>
            <a:srgbClr val="E07B2C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34930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NylonX  </a:t>
            </a:r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carbon-fiber flagship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4142232"/>
            <a:ext cx="128016" cy="128016"/>
          </a:xfrm>
          <a:prstGeom prst="ellipse">
            <a:avLst/>
          </a:prstGeom>
          <a:solidFill>
            <a:srgbClr val="E07B2C"/>
          </a:solidFill>
          <a:ln/>
        </p:spPr>
      </p:sp>
      <p:sp>
        <p:nvSpPr>
          <p:cNvPr id="29" name="Text 27"/>
          <p:cNvSpPr/>
          <p:nvPr/>
        </p:nvSpPr>
        <p:spPr>
          <a:xfrm>
            <a:off x="6748272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NylonG  </a:t>
            </a:r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glass-fiber stiffness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92240" y="4672584"/>
            <a:ext cx="128016" cy="128016"/>
          </a:xfrm>
          <a:prstGeom prst="ellipse">
            <a:avLst/>
          </a:prstGeom>
          <a:solidFill>
            <a:srgbClr val="E07B2C"/>
          </a:solidFill>
          <a:ln/>
        </p:spPr>
      </p:sp>
      <p:sp>
        <p:nvSpPr>
          <p:cNvPr id="31" name="Text 29"/>
          <p:cNvSpPr/>
          <p:nvPr/>
        </p:nvSpPr>
        <p:spPr>
          <a:xfrm>
            <a:off x="6748272" y="4553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NylonK  </a:t>
            </a:r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Kevlar / aramid toughness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92240" y="5202936"/>
            <a:ext cx="128016" cy="128016"/>
          </a:xfrm>
          <a:prstGeom prst="ellipse">
            <a:avLst/>
          </a:prstGeom>
          <a:solidFill>
            <a:srgbClr val="E07B2C"/>
          </a:solidFill>
          <a:ln/>
        </p:spPr>
      </p:sp>
      <p:sp>
        <p:nvSpPr>
          <p:cNvPr id="33" name="Text 31"/>
          <p:cNvSpPr/>
          <p:nvPr/>
        </p:nvSpPr>
        <p:spPr>
          <a:xfrm>
            <a:off x="6748272" y="50840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 </a:t>
            </a:r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labeled per SKU; not US-made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promise, one line, one tagline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simplified three-line family talks - at a glance.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72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3200400"/>
                <a:gridCol w="23774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point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MatterHackers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ThriftyMake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Reliable quality at the lowest catalog price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i="1" dirty="0">
                          <a:solidFill>
                            <a:srgbClr val="1417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"Quality that costs less."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price in the catalog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9B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MatterHackers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9B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 color &amp; performance, batch to batch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i="1" dirty="0">
                          <a:solidFill>
                            <a:srgbClr val="1417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"Consistency you can count on."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#1-selling filament at MatterHackers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MatterHackers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/ professional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performance for functional &amp; end-use parts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i="1" dirty="0">
                          <a:solidFill>
                            <a:srgbClr val="1417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"Performance when it counts."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6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+/-0.02mm; composites; origin labeled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taglines ladder cleanly - </a:t>
            </a:r>
            <a:pPr indent="0" marL="0">
              <a:buNone/>
            </a:pPr>
            <a:r>
              <a:rPr lang="en-US" sz="1100" b="1" i="1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Consistency, Performance</a:t>
            </a:r>
            <a:pPr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so the two budget lines never both claim "affordable," and PRO stays origin-neutral.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 DIRECTION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 colors + a Made-in-USA badge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label template across all three lines; color signals the tier; the USA badge overlays on qualifying SKUs.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84448" cy="19659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79192"/>
            <a:ext cx="2852928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679192"/>
            <a:ext cx="2852928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935224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313639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ThriftyMake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352044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PLA+ - ABS - PETG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3959352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#27AE60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35424" y="2331720"/>
            <a:ext cx="3584448" cy="1965960"/>
          </a:xfrm>
          <a:prstGeom prst="rect">
            <a:avLst/>
          </a:prstGeom>
          <a:solidFill>
            <a:srgbClr val="009BF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01184" y="2679192"/>
            <a:ext cx="2852928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901184" y="2679192"/>
            <a:ext cx="2852928" cy="182880"/>
          </a:xfrm>
          <a:prstGeom prst="rect">
            <a:avLst/>
          </a:prstGeom>
          <a:solidFill>
            <a:srgbClr val="009B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2935224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65776" y="313639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65776" y="352044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 - ABS - PETG - TPU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35424" y="3959352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#009BFF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30768" y="2331720"/>
            <a:ext cx="3584448" cy="19659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96528" y="2679192"/>
            <a:ext cx="2852928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796528" y="2679192"/>
            <a:ext cx="2852928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2935224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MatterHackers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1120" y="313639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0" y="352044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staples + composites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552176" y="28986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F3A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552176" y="28986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badge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30768" y="3959352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#C0392B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3584448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4919472"/>
            <a:ext cx="548640" cy="548640"/>
          </a:xfrm>
          <a:prstGeom prst="ellipse">
            <a:avLst/>
          </a:prstGeom>
          <a:solidFill>
            <a:srgbClr val="009BFF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047488"/>
            <a:ext cx="292608" cy="29260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91056" y="493776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= tier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914400" y="5541264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/ blue / red read the value-core-premium ladder instantly, in store and online.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35424" y="4663440"/>
            <a:ext cx="3584448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73168" y="4882896"/>
            <a:ext cx="603504" cy="60350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F3A9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33518" y="4943246"/>
            <a:ext cx="482803" cy="482803"/>
          </a:xfrm>
          <a:prstGeom prst="ellipse">
            <a:avLst/>
          </a:prstGeom>
          <a:solidFill>
            <a:srgbClr val="1F3A93"/>
          </a:solidFill>
          <a:ln/>
        </p:spPr>
      </p:sp>
      <p:sp>
        <p:nvSpPr>
          <p:cNvPr id="36" name="Text 33"/>
          <p:cNvSpPr/>
          <p:nvPr/>
        </p:nvSpPr>
        <p:spPr>
          <a:xfrm>
            <a:off x="4773168" y="48828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1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</a:t>
            </a:r>
            <a:endParaRPr lang="en-US" sz="561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561" dirty="0"/>
          </a:p>
        </p:txBody>
      </p:sp>
      <p:sp>
        <p:nvSpPr>
          <p:cNvPr id="37" name="Text 34"/>
          <p:cNvSpPr/>
          <p:nvPr/>
        </p:nvSpPr>
        <p:spPr>
          <a:xfrm>
            <a:off x="5486400" y="493776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= origin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809744" y="5541264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Made-in-USA stamp overlays only on qualifying SKUs - a visible mark of pride and a filter.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430768" y="4663440"/>
            <a:ext cx="3584448" cy="164592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686800" y="4919472"/>
            <a:ext cx="548640" cy="548640"/>
          </a:xfrm>
          <a:prstGeom prst="ellipse">
            <a:avLst/>
          </a:prstGeom>
          <a:solidFill>
            <a:srgbClr val="009BFF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16" y="5047488"/>
            <a:ext cx="292608" cy="29260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381744" y="493776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wordmark lockup</a:t>
            </a:r>
            <a:endParaRPr lang="en-US" sz="1350" dirty="0"/>
          </a:p>
        </p:txBody>
      </p:sp>
      <p:sp>
        <p:nvSpPr>
          <p:cNvPr id="43" name="Text 39"/>
          <p:cNvSpPr/>
          <p:nvPr/>
        </p:nvSpPr>
        <p:spPr>
          <a:xfrm>
            <a:off x="8705088" y="5541264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"MatterHackers" sits small above a dominant tier name - keeps the longer names tidy.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31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Rollout, risks &amp; next steps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0048" cy="1783080"/>
          </a:xfrm>
          <a:prstGeom prst="rect">
            <a:avLst/>
          </a:prstGeom>
          <a:solidFill>
            <a:srgbClr val="14171C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2670048" cy="100584"/>
          </a:xfrm>
          <a:prstGeom prst="rect">
            <a:avLst/>
          </a:prstGeom>
          <a:solidFill>
            <a:srgbClr val="009BFF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157984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706624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MatterHackers ThriftyMake / Build / PRO across site &amp; labels.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1920240"/>
            <a:ext cx="2670048" cy="1783080"/>
          </a:xfrm>
          <a:prstGeom prst="rect">
            <a:avLst/>
          </a:prstGeom>
          <a:solidFill>
            <a:srgbClr val="14171C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920240"/>
            <a:ext cx="2670048" cy="100584"/>
          </a:xfrm>
          <a:prstGeom prst="rect">
            <a:avLst/>
          </a:prstGeom>
          <a:solidFill>
            <a:srgbClr val="009BFF"/>
          </a:solidFill>
          <a:ln/>
        </p:spPr>
      </p:sp>
      <p:sp>
        <p:nvSpPr>
          <p:cNvPr id="12" name="Text 10"/>
          <p:cNvSpPr/>
          <p:nvPr/>
        </p:nvSpPr>
        <p:spPr>
          <a:xfrm>
            <a:off x="3803904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2157984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Re-home composites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22192" y="2706624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NylonX/G/K into PRO; 301-redirect old URLs to preserve SEO.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1920240"/>
            <a:ext cx="2670048" cy="1783080"/>
          </a:xfrm>
          <a:prstGeom prst="rect">
            <a:avLst/>
          </a:prstGeom>
          <a:solidFill>
            <a:srgbClr val="14171C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920240"/>
            <a:ext cx="2670048" cy="100584"/>
          </a:xfrm>
          <a:prstGeom prst="rect">
            <a:avLst/>
          </a:prstGeom>
          <a:solidFill>
            <a:srgbClr val="009B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29984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06640" y="2157984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origin labels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48272" y="2706624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Made-in-USA badge, per-SKU origin line, and store filter.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18320" y="1920240"/>
            <a:ext cx="2670048" cy="1783080"/>
          </a:xfrm>
          <a:prstGeom prst="rect">
            <a:avLst/>
          </a:prstGeom>
          <a:solidFill>
            <a:srgbClr val="14171C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18320" y="1920240"/>
            <a:ext cx="2670048" cy="100584"/>
          </a:xfrm>
          <a:prstGeom prst="rect">
            <a:avLst/>
          </a:prstGeom>
          <a:solidFill>
            <a:srgbClr val="009BFF"/>
          </a:solidFill>
          <a:ln/>
        </p:spPr>
      </p:sp>
      <p:sp>
        <p:nvSpPr>
          <p:cNvPr id="22" name="Text 20"/>
          <p:cNvSpPr/>
          <p:nvPr/>
        </p:nvSpPr>
        <p:spPr>
          <a:xfrm>
            <a:off x="9656064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332720" y="2157984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74352" y="2706624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7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Relaunch PRO around performance; feature the USA collection for gov/defense.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3584448" cy="150876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389120"/>
            <a:ext cx="91440" cy="1508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457200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Diluting PRO's USA equity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6112" y="5102352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PRO with performance, but keep the badge prominent and the USA collection curated.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35424" y="4389120"/>
            <a:ext cx="3584448" cy="150876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5424" y="4389120"/>
            <a:ext cx="91440" cy="1508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457200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loss on moved/renamed pages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91456" y="5102352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301-redirect every old URL; keep product names (NylonX/G/K) verbatim in titles.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30768" y="4389120"/>
            <a:ext cx="3584448" cy="1508760"/>
          </a:xfrm>
          <a:prstGeom prst="rect">
            <a:avLst/>
          </a:prstGeom>
          <a:solidFill>
            <a:srgbClr val="F2F4F7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389120"/>
            <a:ext cx="91440" cy="1508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0" y="457200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data gaps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86800" y="5102352"/>
            <a:ext cx="31272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imported SKUs to "Globally sourced"; add country as supplier data allows.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</a:t>
            </a:r>
            <a:pPr indent="0" marL="0">
              <a:buNone/>
            </a:pPr>
            <a:r>
              <a:rPr lang="en-US" sz="1250" dirty="0">
                <a:solidFill>
                  <a:srgbClr val="3C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three names, sign off PRO's new definition, and brief design on the label + badge system.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First-Party Filament Brand Refresh v2</dc:title>
  <dc:subject>PptxGenJS Presentation</dc:subject>
  <dc:creator>Brand Strategy</dc:creator>
  <cp:lastModifiedBy>Brand Strategy</cp:lastModifiedBy>
  <cp:revision>1</cp:revision>
  <dcterms:created xsi:type="dcterms:W3CDTF">2026-06-29T17:13:34Z</dcterms:created>
  <dcterms:modified xsi:type="dcterms:W3CDTF">2026-06-29T17:13:34Z</dcterms:modified>
</cp:coreProperties>
</file>